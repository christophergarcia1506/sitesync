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5" r:id="rId1"/>
  </p:sldMasterIdLst>
  <p:notesMasterIdLst>
    <p:notesMasterId r:id="rId3"/>
  </p:notesMasterIdLst>
  <p:handoutMasterIdLst>
    <p:handoutMasterId r:id="rId4"/>
  </p:handoutMasterIdLst>
  <p:sldIdLst>
    <p:sldId id="264" r:id="rId2"/>
  </p:sldIdLst>
  <p:sldSz cx="43891200" cy="32918400"/>
  <p:notesSz cx="6858000" cy="9144000"/>
  <p:defaultText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662" userDrawn="1">
          <p15:clr>
            <a:srgbClr val="A4A3A4"/>
          </p15:clr>
        </p15:guide>
        <p15:guide id="2" orient="horz" pos="2074" userDrawn="1">
          <p15:clr>
            <a:srgbClr val="A4A3A4"/>
          </p15:clr>
        </p15:guide>
        <p15:guide id="3" orient="horz" pos="17280" userDrawn="1">
          <p15:clr>
            <a:srgbClr val="A4A3A4"/>
          </p15:clr>
        </p15:guide>
        <p15:guide id="4" orient="horz" pos="10368" userDrawn="1">
          <p15:clr>
            <a:srgbClr val="A4A3A4"/>
          </p15:clr>
        </p15:guide>
        <p15:guide id="5" pos="25574" userDrawn="1">
          <p15:clr>
            <a:srgbClr val="A4A3A4"/>
          </p15:clr>
        </p15:guide>
        <p15:guide id="6" pos="13824" userDrawn="1">
          <p15:clr>
            <a:srgbClr val="A4A3A4"/>
          </p15:clr>
        </p15:guide>
        <p15:guide id="7" pos="207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clrMode="gray"/>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B34"/>
    <a:srgbClr val="141313"/>
    <a:srgbClr val="008EC8"/>
    <a:srgbClr val="AFC82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00" autoAdjust="0"/>
    <p:restoredTop sz="94694"/>
  </p:normalViewPr>
  <p:slideViewPr>
    <p:cSldViewPr snapToGrid="0" snapToObjects="1" showGuides="1">
      <p:cViewPr varScale="1">
        <p:scale>
          <a:sx n="16" d="100"/>
          <a:sy n="16" d="100"/>
        </p:scale>
        <p:origin x="1440" y="96"/>
      </p:cViewPr>
      <p:guideLst>
        <p:guide orient="horz" pos="18662"/>
        <p:guide orient="horz" pos="2074"/>
        <p:guide orient="horz" pos="17280"/>
        <p:guide orient="horz" pos="10368"/>
        <p:guide pos="25574"/>
        <p:guide pos="13824"/>
        <p:guide pos="2074"/>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DAC81C5-AE7A-1044-93C2-6BFF0DD7BC2B}" type="datetimeFigureOut">
              <a:rPr lang="en-US" smtClean="0"/>
              <a:t>3/9/2026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6F6EB44-35E4-0D4D-B375-5AD650735949}" type="slidenum">
              <a:rPr lang="en-US" smtClean="0"/>
              <a:t>‹#›</a:t>
            </a:fld>
            <a:endParaRPr lang="en-US"/>
          </a:p>
        </p:txBody>
      </p:sp>
    </p:spTree>
    <p:extLst>
      <p:ext uri="{BB962C8B-B14F-4D97-AF65-F5344CB8AC3E}">
        <p14:creationId xmlns:p14="http://schemas.microsoft.com/office/powerpoint/2010/main" val="421746125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8CBB8FA7-5BDC-BF4F-AE27-E2122A3D7D4C}" type="datetimeFigureOut">
              <a:rPr lang="en-US" smtClean="0"/>
              <a:t>3/9/2026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19D953D-192A-4F4A-A51F-DC3C7E58A63A}" type="slidenum">
              <a:rPr lang="en-US" smtClean="0"/>
              <a:t>‹#›</a:t>
            </a:fld>
            <a:endParaRPr lang="en-US"/>
          </a:p>
        </p:txBody>
      </p:sp>
    </p:spTree>
    <p:extLst>
      <p:ext uri="{BB962C8B-B14F-4D97-AF65-F5344CB8AC3E}">
        <p14:creationId xmlns:p14="http://schemas.microsoft.com/office/powerpoint/2010/main" val="3146029344"/>
      </p:ext>
    </p:extLst>
  </p:cSld>
  <p:clrMap bg1="lt1" tx1="dk1" bg2="lt2" tx2="dk2" accent1="accent1" accent2="accent2" accent3="accent3" accent4="accent4" accent5="accent5" accent6="accent6" hlink="hlink" folHlink="folHlink"/>
  <p:hf hdr="0" ftr="0" dt="0"/>
  <p:notesStyle>
    <a:lvl1pPr marL="0" algn="l" defTabSz="2194560" rtl="0" eaLnBrk="1" latinLnBrk="0" hangingPunct="1">
      <a:defRPr sz="5760" kern="1200">
        <a:solidFill>
          <a:schemeClr val="tx1"/>
        </a:solidFill>
        <a:latin typeface="+mn-lt"/>
        <a:ea typeface="+mn-ea"/>
        <a:cs typeface="+mn-cs"/>
      </a:defRPr>
    </a:lvl1pPr>
    <a:lvl2pPr marL="2194560" algn="l" defTabSz="2194560" rtl="0" eaLnBrk="1" latinLnBrk="0" hangingPunct="1">
      <a:defRPr sz="5760" kern="1200">
        <a:solidFill>
          <a:schemeClr val="tx1"/>
        </a:solidFill>
        <a:latin typeface="+mn-lt"/>
        <a:ea typeface="+mn-ea"/>
        <a:cs typeface="+mn-cs"/>
      </a:defRPr>
    </a:lvl2pPr>
    <a:lvl3pPr marL="4389120" algn="l" defTabSz="2194560" rtl="0" eaLnBrk="1" latinLnBrk="0" hangingPunct="1">
      <a:defRPr sz="5760" kern="1200">
        <a:solidFill>
          <a:schemeClr val="tx1"/>
        </a:solidFill>
        <a:latin typeface="+mn-lt"/>
        <a:ea typeface="+mn-ea"/>
        <a:cs typeface="+mn-cs"/>
      </a:defRPr>
    </a:lvl3pPr>
    <a:lvl4pPr marL="6583680" algn="l" defTabSz="2194560" rtl="0" eaLnBrk="1" latinLnBrk="0" hangingPunct="1">
      <a:defRPr sz="5760" kern="1200">
        <a:solidFill>
          <a:schemeClr val="tx1"/>
        </a:solidFill>
        <a:latin typeface="+mn-lt"/>
        <a:ea typeface="+mn-ea"/>
        <a:cs typeface="+mn-cs"/>
      </a:defRPr>
    </a:lvl4pPr>
    <a:lvl5pPr marL="8778240" algn="l" defTabSz="2194560" rtl="0" eaLnBrk="1" latinLnBrk="0" hangingPunct="1">
      <a:defRPr sz="5760" kern="1200">
        <a:solidFill>
          <a:schemeClr val="tx1"/>
        </a:solidFill>
        <a:latin typeface="+mn-lt"/>
        <a:ea typeface="+mn-ea"/>
        <a:cs typeface="+mn-cs"/>
      </a:defRPr>
    </a:lvl5pPr>
    <a:lvl6pPr marL="10972800" algn="l" defTabSz="2194560" rtl="0" eaLnBrk="1" latinLnBrk="0" hangingPunct="1">
      <a:defRPr sz="5760" kern="1200">
        <a:solidFill>
          <a:schemeClr val="tx1"/>
        </a:solidFill>
        <a:latin typeface="+mn-lt"/>
        <a:ea typeface="+mn-ea"/>
        <a:cs typeface="+mn-cs"/>
      </a:defRPr>
    </a:lvl6pPr>
    <a:lvl7pPr marL="13167360" algn="l" defTabSz="2194560" rtl="0" eaLnBrk="1" latinLnBrk="0" hangingPunct="1">
      <a:defRPr sz="5760" kern="1200">
        <a:solidFill>
          <a:schemeClr val="tx1"/>
        </a:solidFill>
        <a:latin typeface="+mn-lt"/>
        <a:ea typeface="+mn-ea"/>
        <a:cs typeface="+mn-cs"/>
      </a:defRPr>
    </a:lvl7pPr>
    <a:lvl8pPr marL="15361920" algn="l" defTabSz="2194560" rtl="0" eaLnBrk="1" latinLnBrk="0" hangingPunct="1">
      <a:defRPr sz="5760" kern="1200">
        <a:solidFill>
          <a:schemeClr val="tx1"/>
        </a:solidFill>
        <a:latin typeface="+mn-lt"/>
        <a:ea typeface="+mn-ea"/>
        <a:cs typeface="+mn-cs"/>
      </a:defRPr>
    </a:lvl8pPr>
    <a:lvl9pPr marL="17556480" algn="l" defTabSz="2194560" rtl="0" eaLnBrk="1" latinLnBrk="0" hangingPunct="1">
      <a:defRPr sz="576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Start Slide</a:t>
            </a:r>
          </a:p>
        </p:txBody>
      </p:sp>
      <p:sp>
        <p:nvSpPr>
          <p:cNvPr id="4" name="Slide Number Placeholder 3"/>
          <p:cNvSpPr>
            <a:spLocks noGrp="1"/>
          </p:cNvSpPr>
          <p:nvPr>
            <p:ph type="sldNum" sz="quarter" idx="10"/>
          </p:nvPr>
        </p:nvSpPr>
        <p:spPr/>
        <p:txBody>
          <a:bodyPr/>
          <a:lstStyle/>
          <a:p>
            <a:fld id="{619D953D-192A-4F4A-A51F-DC3C7E58A63A}" type="slidenum">
              <a:rPr lang="en-US" smtClean="0"/>
              <a:t>1</a:t>
            </a:fld>
            <a:endParaRPr lang="en-US"/>
          </a:p>
        </p:txBody>
      </p:sp>
    </p:spTree>
    <p:extLst>
      <p:ext uri="{BB962C8B-B14F-4D97-AF65-F5344CB8AC3E}">
        <p14:creationId xmlns:p14="http://schemas.microsoft.com/office/powerpoint/2010/main" val="16155003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Star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83989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8EC8"/>
        </a:solidFill>
        <a:effectLst/>
      </p:bgPr>
    </p:bg>
    <p:spTree>
      <p:nvGrpSpPr>
        <p:cNvPr id="1" name=""/>
        <p:cNvGrpSpPr/>
        <p:nvPr/>
      </p:nvGrpSpPr>
      <p:grpSpPr>
        <a:xfrm>
          <a:off x="0" y="0"/>
          <a:ext cx="0" cy="0"/>
          <a:chOff x="0" y="0"/>
          <a:chExt cx="0" cy="0"/>
        </a:xfrm>
      </p:grpSpPr>
      <p:sp>
        <p:nvSpPr>
          <p:cNvPr id="4" name="Rectangle 3"/>
          <p:cNvSpPr/>
          <p:nvPr userDrawn="1"/>
        </p:nvSpPr>
        <p:spPr>
          <a:xfrm>
            <a:off x="0" y="-5"/>
            <a:ext cx="43891200" cy="32918400"/>
          </a:xfrm>
          <a:prstGeom prst="rect">
            <a:avLst/>
          </a:prstGeom>
          <a:solidFill>
            <a:srgbClr val="001B3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1472"/>
          </a:p>
        </p:txBody>
      </p:sp>
      <p:pic>
        <p:nvPicPr>
          <p:cNvPr id="6" name="Picture 5">
            <a:extLst>
              <a:ext uri="{FF2B5EF4-FFF2-40B4-BE49-F238E27FC236}">
                <a16:creationId xmlns:a16="http://schemas.microsoft.com/office/drawing/2014/main" id="{5A8F6D44-1D78-D84A-8FFD-F8B914FB69C2}"/>
              </a:ext>
            </a:extLst>
          </p:cNvPr>
          <p:cNvPicPr>
            <a:picLocks noChangeAspect="1"/>
          </p:cNvPicPr>
          <p:nvPr userDrawn="1"/>
        </p:nvPicPr>
        <p:blipFill>
          <a:blip r:embed="rId3"/>
          <a:stretch>
            <a:fillRect/>
          </a:stretch>
        </p:blipFill>
        <p:spPr>
          <a:xfrm>
            <a:off x="42062400" y="29050483"/>
            <a:ext cx="1828800" cy="3867912"/>
          </a:xfrm>
          <a:prstGeom prst="rect">
            <a:avLst/>
          </a:prstGeom>
        </p:spPr>
      </p:pic>
    </p:spTree>
    <p:extLst>
      <p:ext uri="{BB962C8B-B14F-4D97-AF65-F5344CB8AC3E}">
        <p14:creationId xmlns:p14="http://schemas.microsoft.com/office/powerpoint/2010/main" val="1629985653"/>
      </p:ext>
    </p:extLst>
  </p:cSld>
  <p:clrMap bg1="lt1" tx1="dk1" bg2="lt2" tx2="dk2" accent1="accent1" accent2="accent2" accent3="accent3" accent4="accent4" accent5="accent5" accent6="accent6" hlink="hlink" folHlink="folHlink"/>
  <p:sldLayoutIdLst>
    <p:sldLayoutId id="2147483656" r:id="rId1"/>
  </p:sldLayoutIdLst>
  <p:hf hdr="0" dt="0"/>
  <p:txStyles>
    <p:titleStyle>
      <a:lvl1pPr algn="ctr" defTabSz="2194560" rtl="0" eaLnBrk="1" latinLnBrk="0" hangingPunct="1">
        <a:spcBef>
          <a:spcPct val="0"/>
        </a:spcBef>
        <a:buNone/>
        <a:defRPr sz="21120" kern="1200">
          <a:solidFill>
            <a:schemeClr val="tx1"/>
          </a:solidFill>
          <a:latin typeface="+mj-lt"/>
          <a:ea typeface="+mj-ea"/>
          <a:cs typeface="+mj-cs"/>
        </a:defRPr>
      </a:lvl1pPr>
    </p:titleStyle>
    <p:bodyStyle>
      <a:lvl1pPr marL="1645920" indent="-1645920" algn="l" defTabSz="2194560" rtl="0" eaLnBrk="1" latinLnBrk="0" hangingPunct="1">
        <a:spcBef>
          <a:spcPct val="20000"/>
        </a:spcBef>
        <a:buFont typeface="Arial"/>
        <a:buChar char="•"/>
        <a:defRPr sz="15360" kern="1200">
          <a:solidFill>
            <a:schemeClr val="tx1"/>
          </a:solidFill>
          <a:latin typeface="+mn-lt"/>
          <a:ea typeface="+mn-ea"/>
          <a:cs typeface="+mn-cs"/>
        </a:defRPr>
      </a:lvl1pPr>
      <a:lvl2pPr marL="3566160" indent="-1371600" algn="l" defTabSz="2194560" rtl="0" eaLnBrk="1" latinLnBrk="0" hangingPunct="1">
        <a:spcBef>
          <a:spcPct val="20000"/>
        </a:spcBef>
        <a:buFont typeface="Arial"/>
        <a:buChar char="–"/>
        <a:defRPr sz="13440" kern="1200">
          <a:solidFill>
            <a:schemeClr val="tx1"/>
          </a:solidFill>
          <a:latin typeface="+mn-lt"/>
          <a:ea typeface="+mn-ea"/>
          <a:cs typeface="+mn-cs"/>
        </a:defRPr>
      </a:lvl2pPr>
      <a:lvl3pPr marL="5486400" indent="-1097280" algn="l" defTabSz="2194560" rtl="0" eaLnBrk="1" latinLnBrk="0" hangingPunct="1">
        <a:spcBef>
          <a:spcPct val="20000"/>
        </a:spcBef>
        <a:buFont typeface="Arial"/>
        <a:buChar char="•"/>
        <a:defRPr sz="11520" kern="1200">
          <a:solidFill>
            <a:schemeClr val="tx1"/>
          </a:solidFill>
          <a:latin typeface="+mn-lt"/>
          <a:ea typeface="+mn-ea"/>
          <a:cs typeface="+mn-cs"/>
        </a:defRPr>
      </a:lvl3pPr>
      <a:lvl4pPr marL="7680960" indent="-1097280" algn="l" defTabSz="2194560" rtl="0" eaLnBrk="1" latinLnBrk="0" hangingPunct="1">
        <a:spcBef>
          <a:spcPct val="20000"/>
        </a:spcBef>
        <a:buFont typeface="Arial"/>
        <a:buChar char="–"/>
        <a:defRPr sz="9600" kern="1200">
          <a:solidFill>
            <a:schemeClr val="tx1"/>
          </a:solidFill>
          <a:latin typeface="+mn-lt"/>
          <a:ea typeface="+mn-ea"/>
          <a:cs typeface="+mn-cs"/>
        </a:defRPr>
      </a:lvl4pPr>
      <a:lvl5pPr marL="9875520" indent="-1097280" algn="l" defTabSz="2194560" rtl="0" eaLnBrk="1" latinLnBrk="0" hangingPunct="1">
        <a:spcBef>
          <a:spcPct val="20000"/>
        </a:spcBef>
        <a:buFont typeface="Arial"/>
        <a:buChar char="»"/>
        <a:defRPr sz="9600" kern="1200">
          <a:solidFill>
            <a:schemeClr val="tx1"/>
          </a:solidFill>
          <a:latin typeface="+mn-lt"/>
          <a:ea typeface="+mn-ea"/>
          <a:cs typeface="+mn-cs"/>
        </a:defRPr>
      </a:lvl5pPr>
      <a:lvl6pPr marL="12070080" indent="-1097280" algn="l" defTabSz="2194560" rtl="0" eaLnBrk="1" latinLnBrk="0" hangingPunct="1">
        <a:spcBef>
          <a:spcPct val="20000"/>
        </a:spcBef>
        <a:buFont typeface="Arial"/>
        <a:buChar char="•"/>
        <a:defRPr sz="9600" kern="1200">
          <a:solidFill>
            <a:schemeClr val="tx1"/>
          </a:solidFill>
          <a:latin typeface="+mn-lt"/>
          <a:ea typeface="+mn-ea"/>
          <a:cs typeface="+mn-cs"/>
        </a:defRPr>
      </a:lvl6pPr>
      <a:lvl7pPr marL="14264640" indent="-1097280" algn="l" defTabSz="2194560" rtl="0" eaLnBrk="1" latinLnBrk="0" hangingPunct="1">
        <a:spcBef>
          <a:spcPct val="20000"/>
        </a:spcBef>
        <a:buFont typeface="Arial"/>
        <a:buChar char="•"/>
        <a:defRPr sz="9600" kern="1200">
          <a:solidFill>
            <a:schemeClr val="tx1"/>
          </a:solidFill>
          <a:latin typeface="+mn-lt"/>
          <a:ea typeface="+mn-ea"/>
          <a:cs typeface="+mn-cs"/>
        </a:defRPr>
      </a:lvl7pPr>
      <a:lvl8pPr marL="16459200" indent="-1097280" algn="l" defTabSz="2194560" rtl="0" eaLnBrk="1" latinLnBrk="0" hangingPunct="1">
        <a:spcBef>
          <a:spcPct val="20000"/>
        </a:spcBef>
        <a:buFont typeface="Arial"/>
        <a:buChar char="•"/>
        <a:defRPr sz="9600" kern="1200">
          <a:solidFill>
            <a:schemeClr val="tx1"/>
          </a:solidFill>
          <a:latin typeface="+mn-lt"/>
          <a:ea typeface="+mn-ea"/>
          <a:cs typeface="+mn-cs"/>
        </a:defRPr>
      </a:lvl8pPr>
      <a:lvl9pPr marL="18653760" indent="-1097280" algn="l" defTabSz="2194560" rtl="0" eaLnBrk="1" latinLnBrk="0" hangingPunct="1">
        <a:spcBef>
          <a:spcPct val="20000"/>
        </a:spcBef>
        <a:buFont typeface="Arial"/>
        <a:buChar char="•"/>
        <a:defRPr sz="9600" kern="1200">
          <a:solidFill>
            <a:schemeClr val="tx1"/>
          </a:solidFill>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143000" y="1075849"/>
            <a:ext cx="37307520" cy="2092881"/>
          </a:xfrm>
          <a:prstGeom prst="rect">
            <a:avLst/>
          </a:prstGeom>
          <a:noFill/>
        </p:spPr>
        <p:txBody>
          <a:bodyPr wrap="square" lIns="0" tIns="0" rIns="0" bIns="0" rtlCol="0">
            <a:spAutoFit/>
          </a:bodyPr>
          <a:lstStyle/>
          <a:p>
            <a:r>
              <a:rPr lang="en-US" sz="8800" spc="480" dirty="0">
                <a:solidFill>
                  <a:schemeClr val="bg1"/>
                </a:solidFill>
                <a:latin typeface="ITC Franklin Gothic Std Dm Cd"/>
                <a:cs typeface="ITC Franklin Gothic Std Dm Cd"/>
              </a:rPr>
              <a:t>SiteSync – Job Management System </a:t>
            </a:r>
          </a:p>
          <a:p>
            <a:r>
              <a:rPr lang="en-US" sz="4800" dirty="0">
                <a:solidFill>
                  <a:schemeClr val="bg1"/>
                </a:solidFill>
                <a:latin typeface="ITC Franklin Gothic Std Bk Cd"/>
                <a:cs typeface="ITC Franklin Gothic Std Bk Cd"/>
              </a:rPr>
              <a:t>Tyler Meira, Anthony Mancia, Ngoc Le, Amos Sadiq,   Computer Engineering Technology </a:t>
            </a:r>
          </a:p>
        </p:txBody>
      </p:sp>
      <p:sp>
        <p:nvSpPr>
          <p:cNvPr id="4" name="Rectangle 33">
            <a:extLst>
              <a:ext uri="{FF2B5EF4-FFF2-40B4-BE49-F238E27FC236}">
                <a16:creationId xmlns:a16="http://schemas.microsoft.com/office/drawing/2014/main" id="{74ED56EB-DD8C-7D6F-213E-6B8F1D333D63}"/>
              </a:ext>
            </a:extLst>
          </p:cNvPr>
          <p:cNvSpPr>
            <a:spLocks noChangeArrowheads="1"/>
          </p:cNvSpPr>
          <p:nvPr/>
        </p:nvSpPr>
        <p:spPr bwMode="auto">
          <a:xfrm>
            <a:off x="1143000" y="20514230"/>
            <a:ext cx="9829800" cy="1150620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ENCLOSURE DESIGN</a:t>
            </a:r>
          </a:p>
          <a:p>
            <a:pPr>
              <a:spcBef>
                <a:spcPct val="50000"/>
              </a:spcBef>
            </a:pPr>
            <a:endParaRPr lang="en-US" sz="4000" dirty="0">
              <a:solidFill>
                <a:srgbClr val="008EC8"/>
              </a:solidFill>
              <a:latin typeface="ITC Franklin Gothic Std Bk Cd"/>
              <a:cs typeface="ITC Franklin Gothic Std Bk Cd"/>
            </a:endParaRPr>
          </a:p>
          <a:p>
            <a:pPr>
              <a:spcBef>
                <a:spcPct val="50000"/>
              </a:spcBef>
            </a:pPr>
            <a:endParaRPr lang="en-US" sz="4000" dirty="0">
              <a:solidFill>
                <a:srgbClr val="008EC8"/>
              </a:solidFill>
              <a:latin typeface="ITC Franklin Gothic Std Bk Cd"/>
              <a:cs typeface="ITC Franklin Gothic Std Bk Cd"/>
            </a:endParaRPr>
          </a:p>
          <a:p>
            <a:pPr>
              <a:spcBef>
                <a:spcPct val="50000"/>
              </a:spcBef>
            </a:pPr>
            <a:endParaRPr lang="en-US" sz="4000" dirty="0">
              <a:solidFill>
                <a:srgbClr val="008EC8"/>
              </a:solidFill>
              <a:latin typeface="ITC Franklin Gothic Std Bk Cd"/>
              <a:cs typeface="ITC Franklin Gothic Std Bk Cd"/>
            </a:endParaRPr>
          </a:p>
          <a:p>
            <a:pPr>
              <a:spcBef>
                <a:spcPct val="50000"/>
              </a:spcBef>
            </a:pPr>
            <a:endParaRPr lang="en-US" sz="4000" dirty="0">
              <a:solidFill>
                <a:srgbClr val="008EC8"/>
              </a:solidFill>
              <a:latin typeface="ITC Franklin Gothic Std Bk Cd"/>
              <a:cs typeface="ITC Franklin Gothic Std Bk Cd"/>
            </a:endParaRPr>
          </a:p>
          <a:p>
            <a:pPr>
              <a:spcBef>
                <a:spcPct val="50000"/>
              </a:spcBef>
            </a:pPr>
            <a:endParaRPr lang="en-US" sz="4000" dirty="0">
              <a:solidFill>
                <a:srgbClr val="008EC8"/>
              </a:solidFill>
              <a:latin typeface="ITC Franklin Gothic Std Bk Cd"/>
              <a:cs typeface="ITC Franklin Gothic Std Bk Cd"/>
            </a:endParaRPr>
          </a:p>
          <a:p>
            <a:pPr>
              <a:spcBef>
                <a:spcPct val="50000"/>
              </a:spcBef>
            </a:pPr>
            <a:r>
              <a:rPr lang="en-US" sz="4000" dirty="0">
                <a:latin typeface="ITC Franklin Gothic Std Bk Cd"/>
                <a:cs typeface="ITC Franklin Gothic Std Bk Cd"/>
              </a:rPr>
              <a:t>We have ordered 3D cut for our case. The pi is mounted to the bottom of the case. Buzzer is mounted to the side and </a:t>
            </a:r>
            <a:r>
              <a:rPr lang="en-US" sz="4000" dirty="0" err="1">
                <a:latin typeface="ITC Franklin Gothic Std Bk Cd"/>
                <a:cs typeface="ITC Franklin Gothic Std Bk Cd"/>
              </a:rPr>
              <a:t>Oled</a:t>
            </a:r>
            <a:r>
              <a:rPr lang="en-US" sz="4000" dirty="0">
                <a:latin typeface="ITC Franklin Gothic Std Bk Cd"/>
                <a:cs typeface="ITC Franklin Gothic Std Bk Cd"/>
              </a:rPr>
              <a:t> display is mounted above the pi. The case is taller than usual because we need two </a:t>
            </a:r>
            <a:r>
              <a:rPr lang="en-US" sz="4000" dirty="0" err="1">
                <a:latin typeface="ITC Franklin Gothic Std Bk Cd"/>
                <a:cs typeface="ITC Franklin Gothic Std Bk Cd"/>
              </a:rPr>
              <a:t>pcbs</a:t>
            </a:r>
            <a:r>
              <a:rPr lang="en-US" sz="4000" dirty="0">
                <a:latin typeface="ITC Franklin Gothic Std Bk Cd"/>
                <a:cs typeface="ITC Franklin Gothic Std Bk Cd"/>
              </a:rPr>
              <a:t> and pi to complete our project.</a:t>
            </a:r>
            <a:endParaRPr lang="en-US" sz="2800" dirty="0">
              <a:latin typeface="ITC Franklin Gothic Std Bk Cd"/>
            </a:endParaRPr>
          </a:p>
          <a:p>
            <a:endParaRPr lang="en-US" sz="4400" dirty="0">
              <a:latin typeface="-apple-system"/>
              <a:cs typeface="Georgia" charset="0"/>
            </a:endParaRPr>
          </a:p>
        </p:txBody>
      </p:sp>
      <p:sp>
        <p:nvSpPr>
          <p:cNvPr id="5" name="Rectangle 49">
            <a:extLst>
              <a:ext uri="{FF2B5EF4-FFF2-40B4-BE49-F238E27FC236}">
                <a16:creationId xmlns:a16="http://schemas.microsoft.com/office/drawing/2014/main" id="{0C6E7F35-DE82-E726-7376-BF9F95DB860F}"/>
              </a:ext>
            </a:extLst>
          </p:cNvPr>
          <p:cNvSpPr>
            <a:spLocks noChangeArrowheads="1"/>
          </p:cNvSpPr>
          <p:nvPr/>
        </p:nvSpPr>
        <p:spPr bwMode="auto">
          <a:xfrm>
            <a:off x="1143000" y="4023360"/>
            <a:ext cx="9829800" cy="156362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INTRODUCTION</a:t>
            </a:r>
          </a:p>
          <a:p>
            <a:r>
              <a:rPr lang="en-US" sz="4400" b="0" i="0" dirty="0">
                <a:solidFill>
                  <a:srgbClr val="1F2328"/>
                </a:solidFill>
                <a:effectLst/>
                <a:latin typeface="-apple-system"/>
              </a:rPr>
              <a:t>SiteSync is a time management system mainly targeted towards construction sites, warehouses or residential jobsites, with portability in mind. Our app will also help connect employers and employees, while helping them maintain an open line of communication throughout the job process.</a:t>
            </a:r>
            <a:endParaRPr lang="en-US" sz="4400" dirty="0">
              <a:latin typeface="ITC Franklin Gothic Std Bk Cd"/>
            </a:endParaRPr>
          </a:p>
        </p:txBody>
      </p:sp>
      <p:sp>
        <p:nvSpPr>
          <p:cNvPr id="6" name="Rectangle 7">
            <a:extLst>
              <a:ext uri="{FF2B5EF4-FFF2-40B4-BE49-F238E27FC236}">
                <a16:creationId xmlns:a16="http://schemas.microsoft.com/office/drawing/2014/main" id="{08D0C2F6-AF47-8BFD-1BE6-50AB56D7468E}"/>
              </a:ext>
            </a:extLst>
          </p:cNvPr>
          <p:cNvSpPr>
            <a:spLocks noChangeArrowheads="1"/>
          </p:cNvSpPr>
          <p:nvPr/>
        </p:nvSpPr>
        <p:spPr bwMode="auto">
          <a:xfrm>
            <a:off x="11734800" y="4023360"/>
            <a:ext cx="9829800" cy="279044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PCB ASSEMBLY</a:t>
            </a:r>
          </a:p>
          <a:p>
            <a:endParaRPr lang="en-US" sz="2800" dirty="0">
              <a:latin typeface="ITC Franklin Gothic Std Bk Cd"/>
              <a:cs typeface="Georgia" charset="0"/>
            </a:endParaRPr>
          </a:p>
          <a:p>
            <a:r>
              <a:rPr lang="en-US" sz="4400" dirty="0">
                <a:latin typeface="-apple-system"/>
                <a:cs typeface="Georgia" charset="0"/>
              </a:rPr>
              <a:t>Each of our PCB includes a stacking header, a </a:t>
            </a:r>
            <a:r>
              <a:rPr lang="en-US" sz="4400" dirty="0" err="1">
                <a:latin typeface="-apple-system"/>
                <a:cs typeface="Georgia" charset="0"/>
              </a:rPr>
              <a:t>qwicc</a:t>
            </a:r>
            <a:r>
              <a:rPr lang="en-US" sz="4400" dirty="0">
                <a:latin typeface="-apple-system"/>
                <a:cs typeface="Georgia" charset="0"/>
              </a:rPr>
              <a:t> connector, two resistors and two LEDS.</a:t>
            </a:r>
          </a:p>
          <a:p>
            <a:r>
              <a:rPr lang="en-US" sz="4400" dirty="0">
                <a:latin typeface="-apple-system"/>
                <a:cs typeface="Georgia" charset="0"/>
              </a:rPr>
              <a:t>We have decided to use two PCBs for our project stacking on top of a pi. One </a:t>
            </a:r>
            <a:r>
              <a:rPr lang="en-US" sz="4400" dirty="0" err="1">
                <a:latin typeface="-apple-system"/>
                <a:cs typeface="Georgia" charset="0"/>
              </a:rPr>
              <a:t>pcb</a:t>
            </a:r>
            <a:r>
              <a:rPr lang="en-US" sz="4400" dirty="0">
                <a:latin typeface="-apple-system"/>
                <a:cs typeface="Georgia" charset="0"/>
              </a:rPr>
              <a:t> will be attached with buzzer and fingerprint, the other </a:t>
            </a:r>
            <a:r>
              <a:rPr lang="en-US" sz="4400" dirty="0" err="1">
                <a:latin typeface="-apple-system"/>
                <a:cs typeface="Georgia" charset="0"/>
              </a:rPr>
              <a:t>pcb</a:t>
            </a:r>
            <a:r>
              <a:rPr lang="en-US" sz="4400" dirty="0">
                <a:latin typeface="-apple-system"/>
                <a:cs typeface="Georgia" charset="0"/>
              </a:rPr>
              <a:t> will be attached with </a:t>
            </a:r>
            <a:r>
              <a:rPr lang="en-US" sz="4400" dirty="0" err="1">
                <a:latin typeface="-apple-system"/>
                <a:cs typeface="Georgia" charset="0"/>
              </a:rPr>
              <a:t>Oled</a:t>
            </a:r>
            <a:r>
              <a:rPr lang="en-US" sz="4400" dirty="0">
                <a:latin typeface="-apple-system"/>
                <a:cs typeface="Georgia" charset="0"/>
              </a:rPr>
              <a:t> display and servo.</a:t>
            </a:r>
          </a:p>
          <a:p>
            <a:endParaRPr lang="en-US" sz="4400" dirty="0">
              <a:latin typeface="-apple-system"/>
              <a:cs typeface="Georgia" charset="0"/>
            </a:endParaRPr>
          </a:p>
          <a:p>
            <a:endParaRPr lang="en-US" sz="4400" dirty="0">
              <a:latin typeface="-apple-system"/>
              <a:cs typeface="Georgia" charset="0"/>
            </a:endParaRPr>
          </a:p>
        </p:txBody>
      </p:sp>
      <p:sp>
        <p:nvSpPr>
          <p:cNvPr id="7" name="Rectangle 51">
            <a:extLst>
              <a:ext uri="{FF2B5EF4-FFF2-40B4-BE49-F238E27FC236}">
                <a16:creationId xmlns:a16="http://schemas.microsoft.com/office/drawing/2014/main" id="{586DCEA4-8DE4-3C41-D436-4509D056095B}"/>
              </a:ext>
            </a:extLst>
          </p:cNvPr>
          <p:cNvSpPr>
            <a:spLocks noChangeArrowheads="1"/>
          </p:cNvSpPr>
          <p:nvPr/>
        </p:nvSpPr>
        <p:spPr bwMode="auto">
          <a:xfrm>
            <a:off x="22326600" y="4023360"/>
            <a:ext cx="9829800" cy="2790444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MOBILE APP RESULTS</a:t>
            </a:r>
          </a:p>
          <a:p>
            <a:pPr>
              <a:spcBef>
                <a:spcPct val="50000"/>
              </a:spcBef>
            </a:pPr>
            <a:r>
              <a:rPr lang="en-US" sz="4400" dirty="0">
                <a:latin typeface="-apple-system"/>
                <a:cs typeface="ITC Franklin Gothic Std Bk Cd"/>
              </a:rPr>
              <a:t>Employers can see when the employees ‘ </a:t>
            </a:r>
            <a:r>
              <a:rPr lang="en-US" sz="4400" dirty="0" err="1">
                <a:latin typeface="-apple-system"/>
                <a:cs typeface="ITC Franklin Gothic Std Bk Cd"/>
              </a:rPr>
              <a:t>punchlogs</a:t>
            </a:r>
            <a:r>
              <a:rPr lang="en-US" sz="4400" dirty="0">
                <a:latin typeface="-apple-system"/>
                <a:cs typeface="ITC Franklin Gothic Std Bk Cd"/>
              </a:rPr>
              <a:t> in the app. Employers also can add more jobs in the job board. Employee can clock in and clock out using fingerprint scanner.</a:t>
            </a:r>
          </a:p>
          <a:p>
            <a:pPr>
              <a:spcBef>
                <a:spcPct val="50000"/>
              </a:spcBef>
            </a:pPr>
            <a:r>
              <a:rPr lang="en-US" sz="4400" dirty="0">
                <a:latin typeface="-apple-system"/>
                <a:cs typeface="ITC Franklin Gothic Std Bk Cd"/>
              </a:rPr>
              <a:t>Users are allowed to change their information.</a:t>
            </a:r>
          </a:p>
          <a:p>
            <a:pPr>
              <a:spcBef>
                <a:spcPct val="50000"/>
              </a:spcBef>
            </a:pPr>
            <a:r>
              <a:rPr lang="en-US" sz="4400" dirty="0">
                <a:latin typeface="-apple-system"/>
                <a:cs typeface="ITC Franklin Gothic Std Bk Cd"/>
              </a:rPr>
              <a:t>There is help available in the app in case users needs guidance.</a:t>
            </a:r>
          </a:p>
          <a:p>
            <a:pPr>
              <a:spcBef>
                <a:spcPct val="50000"/>
              </a:spcBef>
            </a:pPr>
            <a:r>
              <a:rPr lang="en-US" sz="4400" dirty="0">
                <a:latin typeface="-apple-system"/>
                <a:cs typeface="ITC Franklin Gothic Std Bk Cd"/>
              </a:rPr>
              <a:t>Our app has 3 tabs such as home, job and </a:t>
            </a:r>
            <a:r>
              <a:rPr lang="en-US" sz="4400" dirty="0" err="1">
                <a:latin typeface="-apple-system"/>
                <a:cs typeface="ITC Franklin Gothic Std Bk Cd"/>
              </a:rPr>
              <a:t>punchlogs</a:t>
            </a:r>
            <a:endParaRPr lang="en-US" sz="4400" dirty="0">
              <a:latin typeface="-apple-system"/>
              <a:cs typeface="ITC Franklin Gothic Std Bk Cd"/>
            </a:endParaRPr>
          </a:p>
          <a:p>
            <a:pPr>
              <a:spcBef>
                <a:spcPct val="50000"/>
              </a:spcBef>
            </a:pPr>
            <a:r>
              <a:rPr lang="en-US" sz="4400" dirty="0">
                <a:latin typeface="-apple-system"/>
                <a:cs typeface="ITC Franklin Gothic Std Bk Cd"/>
              </a:rPr>
              <a:t>.</a:t>
            </a:r>
          </a:p>
        </p:txBody>
      </p:sp>
      <p:sp>
        <p:nvSpPr>
          <p:cNvPr id="8" name="Rectangle 52">
            <a:extLst>
              <a:ext uri="{FF2B5EF4-FFF2-40B4-BE49-F238E27FC236}">
                <a16:creationId xmlns:a16="http://schemas.microsoft.com/office/drawing/2014/main" id="{B31CE83F-9BD7-6C1D-A8D6-C807F5A8C8BE}"/>
              </a:ext>
            </a:extLst>
          </p:cNvPr>
          <p:cNvSpPr>
            <a:spLocks noChangeArrowheads="1"/>
          </p:cNvSpPr>
          <p:nvPr/>
        </p:nvSpPr>
        <p:spPr bwMode="auto">
          <a:xfrm>
            <a:off x="32918400" y="4023360"/>
            <a:ext cx="9829800" cy="1219200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DATABASE</a:t>
            </a:r>
          </a:p>
          <a:p>
            <a:endParaRPr lang="en-US" sz="2800" dirty="0">
              <a:latin typeface="ITC Franklin Gothic Std Bk Cd"/>
            </a:endParaRPr>
          </a:p>
          <a:p>
            <a:endParaRPr lang="en-US" sz="2800" dirty="0">
              <a:latin typeface="Georgia" charset="0"/>
              <a:cs typeface="Georgia" charset="0"/>
            </a:endParaRPr>
          </a:p>
        </p:txBody>
      </p:sp>
      <p:sp>
        <p:nvSpPr>
          <p:cNvPr id="9" name="Rectangle 34">
            <a:extLst>
              <a:ext uri="{FF2B5EF4-FFF2-40B4-BE49-F238E27FC236}">
                <a16:creationId xmlns:a16="http://schemas.microsoft.com/office/drawing/2014/main" id="{165BC3CD-5A24-3DA5-89C3-D5FDD9185E58}"/>
              </a:ext>
            </a:extLst>
          </p:cNvPr>
          <p:cNvSpPr>
            <a:spLocks noChangeArrowheads="1"/>
          </p:cNvSpPr>
          <p:nvPr/>
        </p:nvSpPr>
        <p:spPr bwMode="auto">
          <a:xfrm>
            <a:off x="32701026" y="17069990"/>
            <a:ext cx="9829800" cy="7237810"/>
          </a:xfrm>
          <a:prstGeom prst="rect">
            <a:avLst/>
          </a:prstGeom>
          <a:solidFill>
            <a:schemeClr val="bg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lIns="360000" tIns="360000" rIns="360000" bIns="360000"/>
          <a:lstStyle/>
          <a:p>
            <a:pPr>
              <a:spcBef>
                <a:spcPct val="50000"/>
              </a:spcBef>
            </a:pPr>
            <a:r>
              <a:rPr lang="en-US" sz="4000" dirty="0">
                <a:solidFill>
                  <a:srgbClr val="008EC8"/>
                </a:solidFill>
                <a:latin typeface="ITC Franklin Gothic Std Bk Cd"/>
                <a:cs typeface="ITC Franklin Gothic Std Bk Cd"/>
              </a:rPr>
              <a:t>TESTING AND NEXT STEPS</a:t>
            </a:r>
          </a:p>
          <a:p>
            <a:endParaRPr lang="en-US" sz="2800" dirty="0">
              <a:latin typeface="ITC Franklin Gothic Std Bk Cd"/>
            </a:endParaRPr>
          </a:p>
          <a:p>
            <a:r>
              <a:rPr lang="en-US" sz="4400" dirty="0" err="1">
                <a:latin typeface="-apple-system"/>
                <a:cs typeface="Georgia" charset="0"/>
              </a:rPr>
              <a:t>Alll</a:t>
            </a:r>
            <a:r>
              <a:rPr lang="en-US" sz="4400" dirty="0">
                <a:latin typeface="-apple-system"/>
                <a:cs typeface="Georgia" charset="0"/>
              </a:rPr>
              <a:t> of our sensors are working properly. Our future goal for now is to test how they work with each other after assembling,</a:t>
            </a:r>
          </a:p>
        </p:txBody>
      </p:sp>
      <p:sp>
        <p:nvSpPr>
          <p:cNvPr id="10" name="TextBox 9">
            <a:extLst>
              <a:ext uri="{FF2B5EF4-FFF2-40B4-BE49-F238E27FC236}">
                <a16:creationId xmlns:a16="http://schemas.microsoft.com/office/drawing/2014/main" id="{F49E9447-63F9-9A34-033F-C4F35B2703E2}"/>
              </a:ext>
            </a:extLst>
          </p:cNvPr>
          <p:cNvSpPr txBox="1"/>
          <p:nvPr/>
        </p:nvSpPr>
        <p:spPr>
          <a:xfrm>
            <a:off x="32918400" y="25162430"/>
            <a:ext cx="9815513" cy="4430879"/>
          </a:xfrm>
          <a:prstGeom prst="rect">
            <a:avLst/>
          </a:prstGeom>
          <a:noFill/>
        </p:spPr>
        <p:txBody>
          <a:bodyPr wrap="square" lIns="356616" tIns="356616" rIns="356616" bIns="356616" rtlCol="0">
            <a:noAutofit/>
          </a:bodyPr>
          <a:lstStyle/>
          <a:p>
            <a:r>
              <a:rPr lang="en-US" sz="4000" spc="480" dirty="0">
                <a:solidFill>
                  <a:schemeClr val="bg1"/>
                </a:solidFill>
                <a:latin typeface="ITC Franklin Gothic Std Bk Cd" panose="020B0506030503020204" pitchFamily="34" charset="0"/>
                <a:cs typeface="ITC Franklin Gothic Std Dm Cd"/>
              </a:rPr>
              <a:t>ACKNOWLEDGEMENTS</a:t>
            </a:r>
          </a:p>
          <a:p>
            <a:endParaRPr lang="en-US" sz="2800" dirty="0">
              <a:solidFill>
                <a:schemeClr val="bg1"/>
              </a:solidFill>
              <a:latin typeface="ITC Franklin Gothic Std Bk Cd"/>
              <a:cs typeface="ITC Franklin Gothic Std Bk Cd"/>
            </a:endParaRPr>
          </a:p>
          <a:p>
            <a:r>
              <a:rPr lang="en-US" sz="2800" dirty="0">
                <a:solidFill>
                  <a:schemeClr val="bg1"/>
                </a:solidFill>
                <a:latin typeface="ITC Franklin Gothic Std Bk Cd"/>
                <a:cs typeface="ITC Franklin Gothic Std Bk Cd"/>
              </a:rPr>
              <a:t>Professors, etc.</a:t>
            </a:r>
          </a:p>
        </p:txBody>
      </p:sp>
      <p:pic>
        <p:nvPicPr>
          <p:cNvPr id="11" name="Picture 10">
            <a:extLst>
              <a:ext uri="{FF2B5EF4-FFF2-40B4-BE49-F238E27FC236}">
                <a16:creationId xmlns:a16="http://schemas.microsoft.com/office/drawing/2014/main" id="{C2E91003-5BA7-0EB1-F526-6265D08FB5B1}"/>
              </a:ext>
            </a:extLst>
          </p:cNvPr>
          <p:cNvPicPr>
            <a:picLocks noChangeAspect="1"/>
          </p:cNvPicPr>
          <p:nvPr/>
        </p:nvPicPr>
        <p:blipFill>
          <a:blip r:embed="rId3"/>
          <a:stretch>
            <a:fillRect/>
          </a:stretch>
        </p:blipFill>
        <p:spPr>
          <a:xfrm>
            <a:off x="33107199" y="5383851"/>
            <a:ext cx="9423627" cy="10291577"/>
          </a:xfrm>
          <a:prstGeom prst="rect">
            <a:avLst/>
          </a:prstGeom>
        </p:spPr>
      </p:pic>
      <p:pic>
        <p:nvPicPr>
          <p:cNvPr id="12" name="Picture 11">
            <a:extLst>
              <a:ext uri="{FF2B5EF4-FFF2-40B4-BE49-F238E27FC236}">
                <a16:creationId xmlns:a16="http://schemas.microsoft.com/office/drawing/2014/main" id="{E4B3A2DE-99A3-B0CE-CADD-F65C7D2ECA76}"/>
              </a:ext>
            </a:extLst>
          </p:cNvPr>
          <p:cNvPicPr>
            <a:picLocks noChangeAspect="1"/>
          </p:cNvPicPr>
          <p:nvPr/>
        </p:nvPicPr>
        <p:blipFill>
          <a:blip r:embed="rId4"/>
          <a:stretch>
            <a:fillRect/>
          </a:stretch>
        </p:blipFill>
        <p:spPr>
          <a:xfrm>
            <a:off x="1360374" y="21396707"/>
            <a:ext cx="9612426" cy="4863505"/>
          </a:xfrm>
          <a:prstGeom prst="rect">
            <a:avLst/>
          </a:prstGeom>
        </p:spPr>
      </p:pic>
      <p:pic>
        <p:nvPicPr>
          <p:cNvPr id="14" name="Picture 13">
            <a:extLst>
              <a:ext uri="{FF2B5EF4-FFF2-40B4-BE49-F238E27FC236}">
                <a16:creationId xmlns:a16="http://schemas.microsoft.com/office/drawing/2014/main" id="{60BBD813-CC37-C32B-09C8-C52CD1FD7387}"/>
              </a:ext>
            </a:extLst>
          </p:cNvPr>
          <p:cNvPicPr>
            <a:picLocks noChangeAspect="1"/>
          </p:cNvPicPr>
          <p:nvPr/>
        </p:nvPicPr>
        <p:blipFill>
          <a:blip r:embed="rId5"/>
          <a:stretch>
            <a:fillRect/>
          </a:stretch>
        </p:blipFill>
        <p:spPr>
          <a:xfrm>
            <a:off x="23412236" y="14293516"/>
            <a:ext cx="7658527" cy="16884073"/>
          </a:xfrm>
          <a:prstGeom prst="rect">
            <a:avLst/>
          </a:prstGeom>
        </p:spPr>
      </p:pic>
      <p:pic>
        <p:nvPicPr>
          <p:cNvPr id="16" name="Picture 15">
            <a:extLst>
              <a:ext uri="{FF2B5EF4-FFF2-40B4-BE49-F238E27FC236}">
                <a16:creationId xmlns:a16="http://schemas.microsoft.com/office/drawing/2014/main" id="{666620EF-3FFC-C448-88FA-01DF0030C6CD}"/>
              </a:ext>
            </a:extLst>
          </p:cNvPr>
          <p:cNvPicPr>
            <a:picLocks noChangeAspect="1"/>
          </p:cNvPicPr>
          <p:nvPr/>
        </p:nvPicPr>
        <p:blipFill>
          <a:blip r:embed="rId6"/>
          <a:stretch>
            <a:fillRect/>
          </a:stretch>
        </p:blipFill>
        <p:spPr>
          <a:xfrm>
            <a:off x="12316815" y="12185346"/>
            <a:ext cx="8665769" cy="8547708"/>
          </a:xfrm>
          <a:prstGeom prst="rect">
            <a:avLst/>
          </a:prstGeom>
        </p:spPr>
      </p:pic>
    </p:spTree>
    <p:extLst>
      <p:ext uri="{BB962C8B-B14F-4D97-AF65-F5344CB8AC3E}">
        <p14:creationId xmlns:p14="http://schemas.microsoft.com/office/powerpoint/2010/main" val="2081111184"/>
      </p:ext>
    </p:extLst>
  </p:cSld>
  <p:clrMapOvr>
    <a:masterClrMapping/>
  </p:clrMapOvr>
</p:sld>
</file>

<file path=ppt/theme/theme1.xml><?xml version="1.0" encoding="utf-8"?>
<a:theme xmlns:a="http://schemas.openxmlformats.org/drawingml/2006/main" name="Humber Section Start Slid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824</TotalTime>
  <Words>292</Words>
  <Application>Microsoft Office PowerPoint</Application>
  <PresentationFormat>Custom</PresentationFormat>
  <Paragraphs>30</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-apple-system</vt:lpstr>
      <vt:lpstr>Arial</vt:lpstr>
      <vt:lpstr>Calibri</vt:lpstr>
      <vt:lpstr>Georgia</vt:lpstr>
      <vt:lpstr>ITC Franklin Gothic Std Bk Cd</vt:lpstr>
      <vt:lpstr>ITC Franklin Gothic Std Dm Cd</vt:lpstr>
      <vt:lpstr>Humber Section Start Slide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SOS Incorporated</dc:creator>
  <cp:lastModifiedBy>Ngoc Le</cp:lastModifiedBy>
  <cp:revision>61</cp:revision>
  <dcterms:created xsi:type="dcterms:W3CDTF">2013-11-05T15:35:21Z</dcterms:created>
  <dcterms:modified xsi:type="dcterms:W3CDTF">2026-03-10T03:21:05Z</dcterms:modified>
</cp:coreProperties>
</file>