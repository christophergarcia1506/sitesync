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9" autoAdjust="0"/>
    <p:restoredTop sz="94660"/>
  </p:normalViewPr>
  <p:slideViewPr>
    <p:cSldViewPr snapToGrid="0">
      <p:cViewPr>
        <p:scale>
          <a:sx n="61" d="100"/>
          <a:sy n="61" d="100"/>
        </p:scale>
        <p:origin x="432" y="20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891201" y="662656"/>
            <a:ext cx="9755187" cy="2766528"/>
          </a:xfrm>
        </p:spPr>
        <p:txBody>
          <a:bodyPr anchor="b">
            <a:normAutofit/>
          </a:bodyPr>
          <a:lstStyle>
            <a:lvl1pPr algn="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983062" y="3505209"/>
            <a:ext cx="9755187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4948541" y="4578463"/>
            <a:ext cx="6143653" cy="1163112"/>
          </a:xfrm>
        </p:spPr>
        <p:txBody>
          <a:bodyPr/>
          <a:lstStyle>
            <a:lvl1pPr algn="ctr">
              <a:defRPr sz="5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E80C50CD-E178-4744-9B35-B2F624D6C5E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5560" y="4883024"/>
            <a:ext cx="4047239" cy="1195538"/>
          </a:xfrm>
        </p:spPr>
        <p:txBody>
          <a:bodyPr vert="horz" lIns="91440" tIns="45720" rIns="91440" bIns="45720" rtlCol="0" anchor="ctr"/>
          <a:lstStyle>
            <a:lvl1pPr algn="r">
              <a:defRPr lang="en-US" sz="540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9851758" y="3832648"/>
            <a:ext cx="907186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25" name="5-Point Star 24"/>
          <p:cNvSpPr/>
          <p:nvPr/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99326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655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3742267"/>
            <a:ext cx="10394707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65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81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5088714" cy="3311189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5993971" y="2063396"/>
            <a:ext cx="5086538" cy="3311189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378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11581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8356" y="2063396"/>
            <a:ext cx="4856158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802" y="2861733"/>
            <a:ext cx="5088712" cy="2512852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8191" y="2063396"/>
            <a:ext cx="486449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5993969" y="2861733"/>
            <a:ext cx="5088713" cy="2512852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70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838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295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643" y="685800"/>
            <a:ext cx="4126860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46132" y="685800"/>
            <a:ext cx="6034375" cy="46887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642" y="2709052"/>
            <a:ext cx="4126861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403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85800"/>
            <a:ext cx="634530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2362" y="0"/>
            <a:ext cx="3598146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709052"/>
            <a:ext cx="634530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440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106333"/>
            <a:ext cx="10394708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1" y="685799"/>
            <a:ext cx="10392513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80" y="4702923"/>
            <a:ext cx="10394728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135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902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79" y="4106333"/>
            <a:ext cx="10394729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889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1732" y="685800"/>
            <a:ext cx="9525020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550264" y="3610032"/>
            <a:ext cx="8667956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4106334"/>
            <a:ext cx="1039688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213789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23854"/>
            <a:ext cx="10394707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247468"/>
            <a:ext cx="10394707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802" y="685800"/>
            <a:ext cx="10394706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802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462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234621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70380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770380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6465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9184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780" y="2063395"/>
            <a:ext cx="3310128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91840" y="4389287"/>
            <a:ext cx="3310128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741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235999" y="2063395"/>
            <a:ext cx="3310128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235999" y="4389286"/>
            <a:ext cx="3310128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68944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768819" y="2063394"/>
            <a:ext cx="3310128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768819" y="4389284"/>
            <a:ext cx="3310128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1660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2063396"/>
            <a:ext cx="10394707" cy="331119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454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5862" y="685800"/>
            <a:ext cx="2264646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685800"/>
            <a:ext cx="7904431" cy="468878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4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88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05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090CCBC9-586C-4528-9653-350706479A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26" name="Freeform 16">
            <a:extLst>
              <a:ext uri="{FF2B5EF4-FFF2-40B4-BE49-F238E27FC236}">
                <a16:creationId xmlns:a16="http://schemas.microsoft.com/office/drawing/2014/main" id="{3DC0375C-BE5A-4736-A815-015CD223F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8" name="Freeform 18">
            <a:extLst>
              <a:ext uri="{FF2B5EF4-FFF2-40B4-BE49-F238E27FC236}">
                <a16:creationId xmlns:a16="http://schemas.microsoft.com/office/drawing/2014/main" id="{39232249-88CC-4F51-907C-88358D82A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7938" y="3165071"/>
            <a:ext cx="11337749" cy="3146030"/>
          </a:xfrm>
          <a:custGeom>
            <a:avLst/>
            <a:gdLst>
              <a:gd name="connsiteX0" fmla="*/ 11201371 w 11337749"/>
              <a:gd name="connsiteY0" fmla="*/ 0 h 3146030"/>
              <a:gd name="connsiteX1" fmla="*/ 11337749 w 11337749"/>
              <a:gd name="connsiteY1" fmla="*/ 2542023 h 3146030"/>
              <a:gd name="connsiteX2" fmla="*/ 8492 w 11337749"/>
              <a:gd name="connsiteY2" fmla="*/ 3146030 h 3146030"/>
              <a:gd name="connsiteX3" fmla="*/ 2 w 11337749"/>
              <a:gd name="connsiteY3" fmla="*/ 587735 h 3146030"/>
              <a:gd name="connsiteX4" fmla="*/ 0 w 11337749"/>
              <a:gd name="connsiteY4" fmla="*/ 587038 h 3146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37749" h="3146030">
                <a:moveTo>
                  <a:pt x="11201371" y="0"/>
                </a:moveTo>
                <a:lnTo>
                  <a:pt x="11337749" y="2542023"/>
                </a:lnTo>
                <a:lnTo>
                  <a:pt x="8492" y="3146030"/>
                </a:lnTo>
                <a:cubicBezTo>
                  <a:pt x="10785" y="2572498"/>
                  <a:pt x="1900" y="1389730"/>
                  <a:pt x="2" y="587735"/>
                </a:cubicBezTo>
                <a:lnTo>
                  <a:pt x="0" y="587038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30" name="Freeform 20">
            <a:extLst>
              <a:ext uri="{FF2B5EF4-FFF2-40B4-BE49-F238E27FC236}">
                <a16:creationId xmlns:a16="http://schemas.microsoft.com/office/drawing/2014/main" id="{B3F32693-A363-4B3D-840C-EAB023AD0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7392E2-1391-70F2-823C-626014A873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21420000">
            <a:off x="532474" y="3680423"/>
            <a:ext cx="10178799" cy="1346996"/>
          </a:xfrm>
        </p:spPr>
        <p:txBody>
          <a:bodyPr>
            <a:normAutofit/>
          </a:bodyPr>
          <a:lstStyle/>
          <a:p>
            <a:r>
              <a:rPr lang="en-CA">
                <a:solidFill>
                  <a:schemeClr val="bg1"/>
                </a:solidFill>
              </a:rPr>
              <a:t>Hardware</a:t>
            </a:r>
          </a:p>
        </p:txBody>
      </p:sp>
      <p:sp>
        <p:nvSpPr>
          <p:cNvPr id="32" name="5-Point Star 22">
            <a:extLst>
              <a:ext uri="{FF2B5EF4-FFF2-40B4-BE49-F238E27FC236}">
                <a16:creationId xmlns:a16="http://schemas.microsoft.com/office/drawing/2014/main" id="{E3D627B7-FCE4-4B3F-9144-9A8F36FB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5183431" y="5370202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EC514-5419-9C22-8C5B-FEAEC9CB36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782" r="12850" b="-3"/>
          <a:stretch>
            <a:fillRect/>
          </a:stretch>
        </p:blipFill>
        <p:spPr>
          <a:xfrm rot="21420000">
            <a:off x="-86426" y="-63662"/>
            <a:ext cx="2697480" cy="3632908"/>
          </a:xfrm>
          <a:custGeom>
            <a:avLst/>
            <a:gdLst/>
            <a:ahLst/>
            <a:cxnLst/>
            <a:rect l="l" t="t" r="r" b="b"/>
            <a:pathLst>
              <a:path w="2697480" h="3632908">
                <a:moveTo>
                  <a:pt x="179889" y="0"/>
                </a:moveTo>
                <a:lnTo>
                  <a:pt x="2697480" y="131942"/>
                </a:lnTo>
                <a:lnTo>
                  <a:pt x="2697480" y="3632908"/>
                </a:lnTo>
                <a:lnTo>
                  <a:pt x="0" y="3632908"/>
                </a:lnTo>
                <a:lnTo>
                  <a:pt x="0" y="3432491"/>
                </a:lnTo>
                <a:close/>
              </a:path>
            </a:pathLst>
          </a:cu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F811900-540A-14D1-F428-F54DED7AF66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410" r="21004" b="4"/>
          <a:stretch>
            <a:fillRect/>
          </a:stretch>
        </p:blipFill>
        <p:spPr>
          <a:xfrm rot="21420000">
            <a:off x="2730290" y="-72981"/>
            <a:ext cx="2697481" cy="3492906"/>
          </a:xfrm>
          <a:custGeom>
            <a:avLst/>
            <a:gdLst/>
            <a:ahLst/>
            <a:cxnLst/>
            <a:rect l="l" t="t" r="r" b="b"/>
            <a:pathLst>
              <a:path w="2697481" h="3492906">
                <a:moveTo>
                  <a:pt x="0" y="0"/>
                </a:moveTo>
                <a:lnTo>
                  <a:pt x="2697481" y="141369"/>
                </a:lnTo>
                <a:lnTo>
                  <a:pt x="2697480" y="3492906"/>
                </a:lnTo>
                <a:lnTo>
                  <a:pt x="0" y="3492906"/>
                </a:lnTo>
                <a:close/>
              </a:path>
            </a:pathLst>
          </a:cu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C461AD-CFA1-E5B1-BF80-3EDD5AE6B6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520" r="11029" b="1"/>
          <a:stretch>
            <a:fillRect/>
          </a:stretch>
        </p:blipFill>
        <p:spPr>
          <a:xfrm rot="21420000">
            <a:off x="5553345" y="-72877"/>
            <a:ext cx="2697480" cy="3341543"/>
          </a:xfrm>
          <a:custGeom>
            <a:avLst/>
            <a:gdLst/>
            <a:ahLst/>
            <a:cxnLst/>
            <a:rect l="l" t="t" r="r" b="b"/>
            <a:pathLst>
              <a:path w="2697480" h="3341543">
                <a:moveTo>
                  <a:pt x="0" y="0"/>
                </a:moveTo>
                <a:lnTo>
                  <a:pt x="2697480" y="141369"/>
                </a:lnTo>
                <a:lnTo>
                  <a:pt x="2697480" y="3341543"/>
                </a:lnTo>
                <a:lnTo>
                  <a:pt x="0" y="3341543"/>
                </a:lnTo>
                <a:close/>
              </a:path>
            </a:pathLst>
          </a:cu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5D5323-CFAB-D862-B14D-9F5A45D137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240" r="17705" b="1"/>
          <a:stretch>
            <a:fillRect/>
          </a:stretch>
        </p:blipFill>
        <p:spPr>
          <a:xfrm rot="21420000">
            <a:off x="8375703" y="-72773"/>
            <a:ext cx="2697480" cy="3189967"/>
          </a:xfrm>
          <a:custGeom>
            <a:avLst/>
            <a:gdLst/>
            <a:ahLst/>
            <a:cxnLst/>
            <a:rect l="l" t="t" r="r" b="b"/>
            <a:pathLst>
              <a:path w="2697480" h="3189967">
                <a:moveTo>
                  <a:pt x="0" y="0"/>
                </a:moveTo>
                <a:lnTo>
                  <a:pt x="2697480" y="141369"/>
                </a:lnTo>
                <a:lnTo>
                  <a:pt x="2697480" y="3189967"/>
                </a:lnTo>
                <a:lnTo>
                  <a:pt x="0" y="318996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5497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412F17E-378A-48DF-A7D0-616F75D5C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8" name="Freeform 11">
            <a:extLst>
              <a:ext uri="{FF2B5EF4-FFF2-40B4-BE49-F238E27FC236}">
                <a16:creationId xmlns:a16="http://schemas.microsoft.com/office/drawing/2014/main" id="{908915DF-1091-4602-9B1A-C06774398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0" name="Freeform 13">
            <a:extLst>
              <a:ext uri="{FF2B5EF4-FFF2-40B4-BE49-F238E27FC236}">
                <a16:creationId xmlns:a16="http://schemas.microsoft.com/office/drawing/2014/main" id="{6CFA88D5-4955-401D-884D-20970DD4E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2" name="Freeform 25">
            <a:extLst>
              <a:ext uri="{FF2B5EF4-FFF2-40B4-BE49-F238E27FC236}">
                <a16:creationId xmlns:a16="http://schemas.microsoft.com/office/drawing/2014/main" id="{164D267B-C17A-4774-88F8-99CC562E3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4" name="Freeform 14">
            <a:extLst>
              <a:ext uri="{FF2B5EF4-FFF2-40B4-BE49-F238E27FC236}">
                <a16:creationId xmlns:a16="http://schemas.microsoft.com/office/drawing/2014/main" id="{C1C5AED6-50C3-434F-B16D-A7A833763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CA"/>
          </a:p>
        </p:txBody>
      </p:sp>
      <p:sp>
        <p:nvSpPr>
          <p:cNvPr id="26" name="5-Point Star 24">
            <a:extLst>
              <a:ext uri="{FF2B5EF4-FFF2-40B4-BE49-F238E27FC236}">
                <a16:creationId xmlns:a16="http://schemas.microsoft.com/office/drawing/2014/main" id="{AFF213A5-1AFF-47E9-83C0-F71BD7388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979D2CD-6189-4D9F-9A62-000F33F6F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87FD6DC-9C9B-4408-9B78-2177E04A2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6954" y="457201"/>
            <a:ext cx="11261749" cy="3343894"/>
          </a:xfrm>
          <a:prstGeom prst="rect">
            <a:avLst/>
          </a:prstGeom>
          <a:solidFill>
            <a:schemeClr val="bg1"/>
          </a:solidFill>
          <a:ln w="57150" cmpd="thinThick">
            <a:noFill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BCD07B-D885-79E6-E5E4-5C3FDCDC96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4" b="1371"/>
          <a:stretch>
            <a:fillRect/>
          </a:stretch>
        </p:blipFill>
        <p:spPr>
          <a:xfrm>
            <a:off x="7363157" y="691546"/>
            <a:ext cx="4134177" cy="2874505"/>
          </a:xfrm>
          <a:prstGeom prst="rect">
            <a:avLst/>
          </a:prstGeom>
        </p:spPr>
      </p:pic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2F30281D-F374-46E3-8F88-0539BF4C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56974"/>
            <a:ext cx="12188952" cy="2601025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2F03C21-1D0E-4C89-92F7-3E1EBE4DE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134" y="4491323"/>
            <a:ext cx="12201086" cy="0"/>
          </a:xfrm>
          <a:prstGeom prst="line">
            <a:avLst/>
          </a:pr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D30D0A9-3370-DC47-C35D-7E0D37F62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12" y="4714814"/>
            <a:ext cx="10818199" cy="10752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800"/>
              <a:t>Database</a:t>
            </a:r>
          </a:p>
        </p:txBody>
      </p:sp>
      <p:sp>
        <p:nvSpPr>
          <p:cNvPr id="36" name="5-Point Star 8">
            <a:extLst>
              <a:ext uri="{FF2B5EF4-FFF2-40B4-BE49-F238E27FC236}">
                <a16:creationId xmlns:a16="http://schemas.microsoft.com/office/drawing/2014/main" id="{FEDA77FB-4261-4A1C-9163-834A8A74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03408" y="6388943"/>
            <a:ext cx="373049" cy="373049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lumMod val="65000"/>
              <a:lumOff val="35000"/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F8A008-ECD0-8C65-62FC-B6B4AFEFEA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030" r="3" b="3"/>
          <a:stretch>
            <a:fillRect/>
          </a:stretch>
        </p:blipFill>
        <p:spPr>
          <a:xfrm>
            <a:off x="685912" y="691545"/>
            <a:ext cx="6553801" cy="28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619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E0CC70BA-3B27-4D37-9E55-9F566B3FB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44" name="Freeform 11">
            <a:extLst>
              <a:ext uri="{FF2B5EF4-FFF2-40B4-BE49-F238E27FC236}">
                <a16:creationId xmlns:a16="http://schemas.microsoft.com/office/drawing/2014/main" id="{8E54E5FE-6A50-43B2-979B-BE2474F4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5" name="Freeform 13">
            <a:extLst>
              <a:ext uri="{FF2B5EF4-FFF2-40B4-BE49-F238E27FC236}">
                <a16:creationId xmlns:a16="http://schemas.microsoft.com/office/drawing/2014/main" id="{1732545C-0790-47A1-B809-8A2531586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6" name="Freeform 25">
            <a:extLst>
              <a:ext uri="{FF2B5EF4-FFF2-40B4-BE49-F238E27FC236}">
                <a16:creationId xmlns:a16="http://schemas.microsoft.com/office/drawing/2014/main" id="{22C9706F-5320-4C8E-91AE-1A9025E9CA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307E1BB0-6022-40FB-8C25-E20C51DC54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CA"/>
          </a:p>
        </p:txBody>
      </p:sp>
      <p:sp>
        <p:nvSpPr>
          <p:cNvPr id="48" name="5-Point Star 24">
            <a:extLst>
              <a:ext uri="{FF2B5EF4-FFF2-40B4-BE49-F238E27FC236}">
                <a16:creationId xmlns:a16="http://schemas.microsoft.com/office/drawing/2014/main" id="{0FA51A0F-B103-49AB-BD7A-A4545B98A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0DA633B-92EB-4B60-9923-569561004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6448A3C3-EB01-4B07-A230-2273FBEA56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6954" y="457201"/>
            <a:ext cx="11261749" cy="3343894"/>
          </a:xfrm>
          <a:prstGeom prst="rect">
            <a:avLst/>
          </a:prstGeom>
          <a:solidFill>
            <a:schemeClr val="bg1"/>
          </a:solidFill>
          <a:ln w="57150" cmpd="thinThick">
            <a:noFill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093D7238-9B57-4D5E-B8A1-6E9AB7ED4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56974"/>
            <a:ext cx="12188952" cy="2601025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626346F-26E6-4664-AE9F-F1C8E542CA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134" y="4491323"/>
            <a:ext cx="12201086" cy="0"/>
          </a:xfrm>
          <a:prstGeom prst="line">
            <a:avLst/>
          </a:pr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5614A0-83F0-7502-DB89-7437A2E67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12" y="4714814"/>
            <a:ext cx="10818199" cy="10752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800"/>
              <a:t>Mobile App</a:t>
            </a:r>
          </a:p>
        </p:txBody>
      </p:sp>
      <p:sp>
        <p:nvSpPr>
          <p:cNvPr id="34" name="5-Point Star 8">
            <a:extLst>
              <a:ext uri="{FF2B5EF4-FFF2-40B4-BE49-F238E27FC236}">
                <a16:creationId xmlns:a16="http://schemas.microsoft.com/office/drawing/2014/main" id="{3A4C8985-32CF-4C63-AA39-3A8629E7E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03408" y="6388943"/>
            <a:ext cx="373049" cy="373049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lumMod val="65000"/>
              <a:lumOff val="35000"/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5B70BB-5076-1F7D-B696-BF82FAA8E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3814" y="691545"/>
            <a:ext cx="1724702" cy="2874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6594F5-B79C-3BBF-6E4F-EBB8806618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142" y="691545"/>
            <a:ext cx="1846869" cy="28745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2F8389-B7E4-9677-C938-123775A96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1876" y="691546"/>
            <a:ext cx="1394134" cy="28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514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809B23-EC40-425A-B89A-F9CE4F063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custGeom>
            <a:avLst/>
            <a:gdLst>
              <a:gd name="connsiteX0" fmla="*/ 3 w 11647715"/>
              <a:gd name="connsiteY0" fmla="*/ 0 h 2634343"/>
              <a:gd name="connsiteX1" fmla="*/ 11647715 w 11647715"/>
              <a:gd name="connsiteY1" fmla="*/ 0 h 2634343"/>
              <a:gd name="connsiteX2" fmla="*/ 11647715 w 11647715"/>
              <a:gd name="connsiteY2" fmla="*/ 2634343 h 2634343"/>
              <a:gd name="connsiteX3" fmla="*/ 3 w 11647715"/>
              <a:gd name="connsiteY3" fmla="*/ 2634343 h 2634343"/>
              <a:gd name="connsiteX4" fmla="*/ 3 w 11647715"/>
              <a:gd name="connsiteY4" fmla="*/ 1533667 h 2634343"/>
              <a:gd name="connsiteX5" fmla="*/ 0 w 11647715"/>
              <a:gd name="connsiteY5" fmla="*/ 1533667 h 2634343"/>
              <a:gd name="connsiteX6" fmla="*/ 0 w 11647715"/>
              <a:gd name="connsiteY6" fmla="*/ 980400 h 2634343"/>
              <a:gd name="connsiteX7" fmla="*/ 3 w 11647715"/>
              <a:gd name="connsiteY7" fmla="*/ 980400 h 2634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647715" h="2634343">
                <a:moveTo>
                  <a:pt x="3" y="0"/>
                </a:moveTo>
                <a:lnTo>
                  <a:pt x="11647715" y="0"/>
                </a:lnTo>
                <a:lnTo>
                  <a:pt x="11647715" y="2634343"/>
                </a:lnTo>
                <a:lnTo>
                  <a:pt x="3" y="2634343"/>
                </a:lnTo>
                <a:lnTo>
                  <a:pt x="3" y="1533667"/>
                </a:lnTo>
                <a:lnTo>
                  <a:pt x="0" y="1533667"/>
                </a:lnTo>
                <a:lnTo>
                  <a:pt x="0" y="980400"/>
                </a:lnTo>
                <a:lnTo>
                  <a:pt x="3" y="98040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A601F395-3079-4179-84BA-6654D9F82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7"/>
            <a:ext cx="10905067" cy="5571066"/>
          </a:xfrm>
          <a:custGeom>
            <a:avLst/>
            <a:gdLst>
              <a:gd name="connsiteX0" fmla="*/ 0 w 8130198"/>
              <a:gd name="connsiteY0" fmla="*/ 0 h 6857999"/>
              <a:gd name="connsiteX1" fmla="*/ 7241014 w 8130198"/>
              <a:gd name="connsiteY1" fmla="*/ 0 h 6857999"/>
              <a:gd name="connsiteX2" fmla="*/ 8130198 w 8130198"/>
              <a:gd name="connsiteY2" fmla="*/ 0 h 6857999"/>
              <a:gd name="connsiteX3" fmla="*/ 8130198 w 8130198"/>
              <a:gd name="connsiteY3" fmla="*/ 6857999 h 6857999"/>
              <a:gd name="connsiteX4" fmla="*/ 0 w 8130198"/>
              <a:gd name="connsiteY4" fmla="*/ 6857999 h 6857999"/>
              <a:gd name="connsiteX5" fmla="*/ 0 w 8130198"/>
              <a:gd name="connsiteY5" fmla="*/ 63753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130198" h="6857999">
                <a:moveTo>
                  <a:pt x="0" y="0"/>
                </a:moveTo>
                <a:lnTo>
                  <a:pt x="7241014" y="0"/>
                </a:lnTo>
                <a:lnTo>
                  <a:pt x="8130198" y="0"/>
                </a:lnTo>
                <a:lnTo>
                  <a:pt x="8130198" y="6857999"/>
                </a:lnTo>
                <a:lnTo>
                  <a:pt x="0" y="6857999"/>
                </a:lnTo>
                <a:lnTo>
                  <a:pt x="0" y="6375361"/>
                </a:lnTo>
                <a:close/>
              </a:path>
            </a:pathLst>
          </a:custGeom>
          <a:ln w="50800" cap="sq">
            <a:solidFill>
              <a:srgbClr val="7F7F7F"/>
            </a:solidFill>
            <a:miter lim="800000"/>
          </a:ln>
          <a:effectLst>
            <a:outerShdw blurRad="101600" dist="152400" dir="4380000" algn="t" rotWithShape="0">
              <a:prstClr val="black">
                <a:alpha val="4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CF287D-855D-30C0-A788-EEB867640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1061660"/>
            <a:ext cx="9618133" cy="1043108"/>
          </a:xfrm>
        </p:spPr>
        <p:txBody>
          <a:bodyPr>
            <a:normAutofit/>
          </a:bodyPr>
          <a:lstStyle/>
          <a:p>
            <a:pPr algn="ctr"/>
            <a:r>
              <a:rPr lang="en-CA" sz="4800"/>
              <a:t>Demonstration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84655-D3E5-47E2-692F-08A796786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3" y="2226681"/>
            <a:ext cx="9618133" cy="358629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CA" sz="1800">
                <a:solidFill>
                  <a:schemeClr val="tx1">
                    <a:lumMod val="85000"/>
                    <a:lumOff val="15000"/>
                  </a:schemeClr>
                </a:solidFill>
              </a:rPr>
              <a:t>We are using Anthonys Raspberry pi</a:t>
            </a:r>
          </a:p>
          <a:p>
            <a:pPr>
              <a:lnSpc>
                <a:spcPct val="110000"/>
              </a:lnSpc>
            </a:pPr>
            <a:endParaRPr lang="en-CA" sz="18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</a:pPr>
            <a:r>
              <a:rPr lang="en-CA" sz="1800">
                <a:solidFill>
                  <a:schemeClr val="tx1">
                    <a:lumMod val="85000"/>
                    <a:lumOff val="15000"/>
                  </a:schemeClr>
                </a:solidFill>
              </a:rPr>
              <a:t>For a demonstration a user will have already created an account through our app</a:t>
            </a:r>
          </a:p>
          <a:p>
            <a:pPr>
              <a:lnSpc>
                <a:spcPct val="110000"/>
              </a:lnSpc>
            </a:pPr>
            <a:r>
              <a:rPr lang="en-CA" sz="1800">
                <a:solidFill>
                  <a:schemeClr val="tx1">
                    <a:lumMod val="85000"/>
                    <a:lumOff val="15000"/>
                  </a:schemeClr>
                </a:solidFill>
              </a:rPr>
              <a:t>We simulate how a user would interact with our hardware once they have accepted a job</a:t>
            </a:r>
          </a:p>
          <a:p>
            <a:pPr>
              <a:lnSpc>
                <a:spcPct val="110000"/>
              </a:lnSpc>
            </a:pPr>
            <a:r>
              <a:rPr lang="en-CA" sz="1800">
                <a:solidFill>
                  <a:schemeClr val="tx1">
                    <a:lumMod val="85000"/>
                    <a:lumOff val="15000"/>
                  </a:schemeClr>
                </a:solidFill>
              </a:rPr>
              <a:t>A user will use the keypad to interact wit the menu through the Zio Oled,</a:t>
            </a:r>
          </a:p>
          <a:p>
            <a:pPr>
              <a:lnSpc>
                <a:spcPct val="110000"/>
              </a:lnSpc>
            </a:pPr>
            <a:r>
              <a:rPr lang="en-CA" sz="1800">
                <a:solidFill>
                  <a:schemeClr val="tx1">
                    <a:lumMod val="85000"/>
                    <a:lumOff val="15000"/>
                  </a:schemeClr>
                </a:solidFill>
              </a:rPr>
              <a:t>Select who they are and punch in using the fingerprint sensor</a:t>
            </a:r>
          </a:p>
          <a:p>
            <a:pPr>
              <a:lnSpc>
                <a:spcPct val="110000"/>
              </a:lnSpc>
            </a:pPr>
            <a:endParaRPr lang="en-CA" sz="18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</a:pPr>
            <a:r>
              <a:rPr lang="en-CA" sz="1800">
                <a:solidFill>
                  <a:schemeClr val="tx1">
                    <a:lumMod val="85000"/>
                    <a:lumOff val="15000"/>
                  </a:schemeClr>
                </a:solidFill>
              </a:rPr>
              <a:t>Our product is a proof-of-concept prototype.</a:t>
            </a:r>
          </a:p>
          <a:p>
            <a:pPr>
              <a:lnSpc>
                <a:spcPct val="110000"/>
              </a:lnSpc>
            </a:pPr>
            <a:endParaRPr lang="en-CA" sz="18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5067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1A8CDCA-EC58-40B4-9F17-A7B613A32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0" name="Freeform 11">
            <a:extLst>
              <a:ext uri="{FF2B5EF4-FFF2-40B4-BE49-F238E27FC236}">
                <a16:creationId xmlns:a16="http://schemas.microsoft.com/office/drawing/2014/main" id="{DBC44137-B240-488D-B88F-9D266FACA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70FFA344-365C-4944-848F-8B966C335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Freeform 25">
            <a:extLst>
              <a:ext uri="{FF2B5EF4-FFF2-40B4-BE49-F238E27FC236}">
                <a16:creationId xmlns:a16="http://schemas.microsoft.com/office/drawing/2014/main" id="{D73EBEE6-2E8A-47F3-ADCA-5C0A95C36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6" name="Freeform 14">
            <a:extLst>
              <a:ext uri="{FF2B5EF4-FFF2-40B4-BE49-F238E27FC236}">
                <a16:creationId xmlns:a16="http://schemas.microsoft.com/office/drawing/2014/main" id="{47525714-3E1C-46F0-A17D-D3BE3D221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CA"/>
          </a:p>
        </p:txBody>
      </p:sp>
      <p:sp>
        <p:nvSpPr>
          <p:cNvPr id="18" name="5-Point Star 24">
            <a:extLst>
              <a:ext uri="{FF2B5EF4-FFF2-40B4-BE49-F238E27FC236}">
                <a16:creationId xmlns:a16="http://schemas.microsoft.com/office/drawing/2014/main" id="{B178D758-A5E1-416F-9966-F71730470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B28D430-56EA-45B9-8632-927BEBF02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22" name="Freeform: Shape 21">
            <a:extLst>
              <a:ext uri="{FF2B5EF4-FFF2-40B4-BE49-F238E27FC236}">
                <a16:creationId xmlns:a16="http://schemas.microsoft.com/office/drawing/2014/main" id="{A601F395-3079-4179-84BA-6654D9F82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7"/>
            <a:ext cx="10905067" cy="5571066"/>
          </a:xfrm>
          <a:custGeom>
            <a:avLst/>
            <a:gdLst>
              <a:gd name="connsiteX0" fmla="*/ 0 w 8130198"/>
              <a:gd name="connsiteY0" fmla="*/ 0 h 6857999"/>
              <a:gd name="connsiteX1" fmla="*/ 7241014 w 8130198"/>
              <a:gd name="connsiteY1" fmla="*/ 0 h 6857999"/>
              <a:gd name="connsiteX2" fmla="*/ 8130198 w 8130198"/>
              <a:gd name="connsiteY2" fmla="*/ 0 h 6857999"/>
              <a:gd name="connsiteX3" fmla="*/ 8130198 w 8130198"/>
              <a:gd name="connsiteY3" fmla="*/ 6857999 h 6857999"/>
              <a:gd name="connsiteX4" fmla="*/ 0 w 8130198"/>
              <a:gd name="connsiteY4" fmla="*/ 6857999 h 6857999"/>
              <a:gd name="connsiteX5" fmla="*/ 0 w 8130198"/>
              <a:gd name="connsiteY5" fmla="*/ 63753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130198" h="6857999">
                <a:moveTo>
                  <a:pt x="0" y="0"/>
                </a:moveTo>
                <a:lnTo>
                  <a:pt x="7241014" y="0"/>
                </a:lnTo>
                <a:lnTo>
                  <a:pt x="8130198" y="0"/>
                </a:lnTo>
                <a:lnTo>
                  <a:pt x="8130198" y="6857999"/>
                </a:lnTo>
                <a:lnTo>
                  <a:pt x="0" y="6857999"/>
                </a:lnTo>
                <a:lnTo>
                  <a:pt x="0" y="6375361"/>
                </a:lnTo>
                <a:close/>
              </a:path>
            </a:pathLst>
          </a:custGeom>
          <a:ln w="50800" cap="sq">
            <a:noFill/>
            <a:miter lim="800000"/>
          </a:ln>
          <a:effectLst>
            <a:outerShdw blurRad="101600" dist="152400" dir="4380000" algn="t" rotWithShape="0">
              <a:prstClr val="black">
                <a:alpha val="4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4" name="5-Point Star 24">
            <a:extLst>
              <a:ext uri="{FF2B5EF4-FFF2-40B4-BE49-F238E27FC236}">
                <a16:creationId xmlns:a16="http://schemas.microsoft.com/office/drawing/2014/main" id="{B15DEAD7-09E6-42D9-9D03-43E6EA3E05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9678" y="3748085"/>
            <a:ext cx="252644" cy="252644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485634-2FBF-FC37-195F-1CDC64267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8407" y="1044250"/>
            <a:ext cx="9841575" cy="264600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7374-C750-EAC3-628A-1038BB2FC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8407" y="4058557"/>
            <a:ext cx="9841575" cy="19068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800">
                <a:solidFill>
                  <a:schemeClr val="tx1">
                    <a:lumMod val="85000"/>
                    <a:lumOff val="15000"/>
                  </a:schemeClr>
                </a:solidFill>
              </a:rPr>
              <a:t>* Video To be included.</a:t>
            </a:r>
          </a:p>
        </p:txBody>
      </p:sp>
    </p:spTree>
    <p:extLst>
      <p:ext uri="{BB962C8B-B14F-4D97-AF65-F5344CB8AC3E}">
        <p14:creationId xmlns:p14="http://schemas.microsoft.com/office/powerpoint/2010/main" val="22348916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in Even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Main Event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in Even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TM04033927[[fn=Main Event]]</Template>
  <TotalTime>34</TotalTime>
  <Words>83</Words>
  <Application>Microsoft Office PowerPoint</Application>
  <PresentationFormat>Widescreen</PresentationFormat>
  <Paragraphs>14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Impact</vt:lpstr>
      <vt:lpstr>Main Event</vt:lpstr>
      <vt:lpstr>Hardware</vt:lpstr>
      <vt:lpstr>Database</vt:lpstr>
      <vt:lpstr>Mobile App</vt:lpstr>
      <vt:lpstr>Demonstration Setup</vt:lpstr>
      <vt:lpstr>Demonstration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M</dc:creator>
  <cp:lastModifiedBy>Tyler M</cp:lastModifiedBy>
  <cp:revision>2</cp:revision>
  <dcterms:created xsi:type="dcterms:W3CDTF">2026-03-23T17:19:54Z</dcterms:created>
  <dcterms:modified xsi:type="dcterms:W3CDTF">2026-03-23T17:54:19Z</dcterms:modified>
</cp:coreProperties>
</file>